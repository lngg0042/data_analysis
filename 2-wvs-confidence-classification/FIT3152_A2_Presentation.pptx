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164592" cy="16687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Confidence in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Institutions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FIT3152 Assignment 2  ·  World Values Survey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33986010  |  FIT3152 Data Analytics  |  S1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7724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Exploration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0116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60120"/>
            <a:ext cx="2011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497787"/>
            <a:ext cx="20116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914400"/>
            <a:ext cx="201168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960120"/>
            <a:ext cx="2011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1497787"/>
            <a:ext cx="20116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2011680" cy="100584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960120"/>
            <a:ext cx="2011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09160" y="1497787"/>
            <a:ext cx="20116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Variables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057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Variable Imbalance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423160"/>
          <a:ext cx="6400800" cy="128016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CWomensMvt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CGovernment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32004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All imbalance ratios &lt; 1.5 — mild imbalance only; no resampling needed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0" y="868680"/>
            <a:ext cx="1920240" cy="320040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94944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949440" y="128016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 values,
but all Min = −5
</a:t>
            </a:r>
            <a:pPr algn="ctr"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WVS uses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(−1 to −5) 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system-missing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7724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2–4. Pre-processing &amp; Model Setup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Pipeline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negative WVS codes (−1 to −5) → NA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 with missing class labels (listwise deletion)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predictor NAs → column median (robust to skew)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class vars as binary factors (Low / High)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&amp; Wave → categorical factors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3611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14,112 observations  |  0 remaining NAs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914400"/>
            <a:ext cx="0" cy="32004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896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Classifiers Trained (70/30 split)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11480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61872"/>
            <a:ext cx="91440" cy="438912"/>
          </a:xfrm>
          <a:prstGeom prst="rect">
            <a:avLst/>
          </a:prstGeom>
          <a:solidFill>
            <a:srgbClr val="8899CC"/>
          </a:solidFill>
          <a:ln w="12700">
            <a:solidFill>
              <a:srgbClr val="8899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2710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481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rpart, 10-fold CV pruning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792224"/>
            <a:ext cx="411480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792224"/>
            <a:ext cx="91440" cy="438912"/>
          </a:xfrm>
          <a:prstGeom prst="rect">
            <a:avLst/>
          </a:prstGeom>
          <a:solidFill>
            <a:srgbClr val="8899CC"/>
          </a:solidFill>
          <a:ln w="12700">
            <a:solidFill>
              <a:srgbClr val="8899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801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9472" y="2011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e1071, baseline probabilistic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322576"/>
            <a:ext cx="411480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322576"/>
            <a:ext cx="91440" cy="43891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331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2542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adabag, mfinal = 25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852928"/>
            <a:ext cx="411480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852928"/>
            <a:ext cx="91440" cy="43891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30723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adabag (AdaBoost), mfinal = 25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383280"/>
            <a:ext cx="4114800" cy="438912"/>
          </a:xfrm>
          <a:prstGeom prst="rect">
            <a:avLst/>
          </a:prstGeom>
          <a:solidFill>
            <a:srgbClr val="EEF3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383280"/>
            <a:ext cx="91440" cy="43891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3924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3602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randomForest, ntree = 100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4023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= ensemble methods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7724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5–7. Model Performance &amp; Comparison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&amp; AUC Summary across 3 Class Variables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8229600" cy="21031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CWomensMvt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 | 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CGovernment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 | 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 | 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 | 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0.537 | 0.575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 | 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 Bayes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0.638 | 0.574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0.524 | 0.611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0.364 | 0.585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 | 0.569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0.445 | 0.607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0.286 | 0.595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 | 0.603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0.508 | 0.627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0.362 | 0.608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 | 0.594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0.530 | 0.626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0.370 | 0.609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474720"/>
            <a:ext cx="2651760" cy="132588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3520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382219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&amp; Random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consistently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across all targets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54680" y="3474720"/>
            <a:ext cx="2651760" cy="1325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154680" y="3520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Overall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54680" y="382219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to single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for 2/3 targets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89320" y="3474720"/>
            <a:ext cx="2651760" cy="13258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89320" y="3520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Ensemble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89320" y="382219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— lowest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F1 (0.49)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3 vars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Decision Tree F1 = 0.743 for CWomensMvt is misleading — single-node predicts all as High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7724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&amp; 10. Feature Importance &amp; Model Improvement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 (Q8 — Ensemble Importance)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4114800" cy="21031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 class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ILPolitics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 class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 class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LifeSatis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 class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GovtRespons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CGovernment, CUnions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4564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remove: ICQIndependence, ICQObedience, ACTSport, ACTArtsEd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17720" y="914400"/>
            <a:ext cx="0" cy="32004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896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Improved Bagging Results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Strategies: Feature selection (30 → 16 attrs) + mfinal 25 → 100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645920"/>
          <a:ext cx="4114800" cy="173736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Var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CWomensMvt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CGovernment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CUnions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754880" y="3474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gain on CGovernment (+0.055 F1)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improved recall with less noise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7724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11–12. Artificial Neural Network — ZAF | CWomensMvt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— ANN Setup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Country: South Africa (ZAF) — 548 obs, most in dataset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var: CWomensMvt (highest predictability)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ALL ZAF data (across all waves)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predictors: top-10 RF features (Q8) + WaveNum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standardised — mandatory for ANN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12 → 5 (sigmoid) → 1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decay = 0.01, maxit = 300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3886200"/>
            <a:ext cx="1234440" cy="9144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3931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0.8252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44165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3886200"/>
            <a:ext cx="12344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3931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91640" y="44165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3886200"/>
            <a:ext cx="1234440" cy="9144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63240" y="3931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0.8854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063240" y="44165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914400"/>
            <a:ext cx="0" cy="39319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896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Performance by Wave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61872"/>
          <a:ext cx="4114800" cy="233172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5488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54880" y="39776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stability — F1 &gt; 0.78 in both waves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6 improvement: social effects (#MeToo, #TotalShutdown) sharpened predictor signal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data drift (↓Recall) — model still robust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984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&amp; Random Forest: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reliable across all 3 class variables (highest F1 &amp; AUC)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850392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1848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(worst ensemble):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recall due to keeping class imbalance in bootstrap samples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850392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6712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ILPolitics, PolArmy, LifeSatis dominate all three targets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651760"/>
            <a:ext cx="850392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157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outperforms ensembles: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0.825, AUC = 0.795 on country-specific ZAF 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200400"/>
            <a:ext cx="850392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6440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stability: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generalises well across waves; Wave 6 shows improvement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Student ID: 33986010  ·  FIT3152 S1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FIT3152 Assignment 2 - Data Analytics</dc:title>
  <dc:subject>PptxGenJS Presentation</dc:subject>
  <dc:creator>PptxGenJS</dc:creator>
  <cp:lastModifiedBy>PptxGenJS</cp:lastModifiedBy>
  <cp:revision>1</cp:revision>
  <dcterms:created xsi:type="dcterms:W3CDTF">2026-05-16T17:44:56Z</dcterms:created>
  <dcterms:modified xsi:type="dcterms:W3CDTF">2026-05-16T17:44:56Z</dcterms:modified>
</cp:coreProperties>
</file>